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3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1B4F8A">
              <a:alpha val="40000"/>
            </a:srgbClr>
          </a:solidFill>
          <a:ln w="12700">
            <a:solidFill>
              <a:srgbClr val="1B4F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82880"/>
            <a:ext cx="1645920" cy="1645920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237744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AI/ML WORKSHOP 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Prediction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Models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50292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Jha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23FE10CSE00767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Heart Failure Prediction  </a:t>
            </a: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records  •  12 features  •  Binary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874520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CVD globally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24128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24128"/>
            <a:ext cx="1874520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1155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17190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worldwide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81144" y="1024128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1024128"/>
            <a:ext cx="1874520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11155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81144" y="17190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11696" y="1024128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11696" y="1024128"/>
            <a:ext cx="1874520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11155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11696" y="17190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3977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60320"/>
            <a:ext cx="109728" cy="21945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2980944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Heart failure is a critical CVD condition with high mortality rates worldwide.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diagnostics depend on physician expertise — prone to subjectivity.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learning can discover non-linear clinical patterns beyond human intuition.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Early, accurate prediction can save lives and optimize healthcare resources.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3977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560320"/>
            <a:ext cx="109728" cy="21945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2980944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a binary classification framework to predict heart disease presence.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Logistic Regression vs. Random Forest on identical experimental conditions.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using Accuracy, Precision, Recall, F1-Score, and ROC-AUC.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clinically meaningful insights from confusion matrices and ROC curves.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Dataset &amp;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237744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819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63040" y="15819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fedesoriano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9293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63040" y="19293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patients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2768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63040" y="22768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clinical variables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6243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63040" y="2624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HeartDisease (0/1)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6304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cases (55.3%)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3192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63040" y="33192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cases (44.7%)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6667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63040" y="36667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0142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63040" y="401421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(categorical)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361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463040" y="43616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1005840"/>
            <a:ext cx="557784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005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0058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1353312"/>
            <a:ext cx="5577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13533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13533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13533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 in years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1623060"/>
            <a:ext cx="5577840" cy="256032"/>
          </a:xfrm>
          <a:prstGeom prst="rect">
            <a:avLst/>
          </a:prstGeom>
          <a:solidFill>
            <a:srgbClr val="F1F5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16230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16230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80760" y="16230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/ F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1892808"/>
            <a:ext cx="5577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18928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ChestPainType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1892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80760" y="18928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ATA, NAP, ASY, TA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46120" y="2162556"/>
            <a:ext cx="5577840" cy="256032"/>
          </a:xfrm>
          <a:prstGeom prst="rect">
            <a:avLst/>
          </a:prstGeom>
          <a:solidFill>
            <a:srgbClr val="F1F5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21625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RestingBP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9472" y="21625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80760" y="21625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BP (mm Hg)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46120" y="2432304"/>
            <a:ext cx="5577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24323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19472" y="24323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80760" y="24323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cholesterol (mg/dl)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46120" y="2702052"/>
            <a:ext cx="5577840" cy="256032"/>
          </a:xfrm>
          <a:prstGeom prst="rect">
            <a:avLst/>
          </a:prstGeom>
          <a:solidFill>
            <a:srgbClr val="F1F5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27020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FastingBS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19472" y="27020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080760" y="27020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&gt; 120 mg/dl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46120" y="2971800"/>
            <a:ext cx="5577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2971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RestingECG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19472" y="2971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80760" y="29718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results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46120" y="3241548"/>
            <a:ext cx="5577840" cy="256032"/>
          </a:xfrm>
          <a:prstGeom prst="rect">
            <a:avLst/>
          </a:prstGeom>
          <a:solidFill>
            <a:srgbClr val="F1F5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0" y="32415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MaxHR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919472" y="32415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080760" y="32415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heart rate achieved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46120" y="3511296"/>
            <a:ext cx="5577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0" y="3511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ExerciseAngina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919472" y="35112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080760" y="35112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Exercise-induced angina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46120" y="3781044"/>
            <a:ext cx="5577840" cy="256032"/>
          </a:xfrm>
          <a:prstGeom prst="rect">
            <a:avLst/>
          </a:prstGeom>
          <a:solidFill>
            <a:srgbClr val="F1F5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0" y="37810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919472" y="37810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080760" y="37810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depression (exercise)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46120" y="4050792"/>
            <a:ext cx="5577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91840" y="40507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ST_Slope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919472" y="40507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080760" y="4050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segment slope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46120" y="4320540"/>
            <a:ext cx="5577840" cy="256032"/>
          </a:xfrm>
          <a:prstGeom prst="rect">
            <a:avLst/>
          </a:prstGeom>
          <a:solidFill>
            <a:srgbClr val="E0F7FA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91840" y="43205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HeartDisease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919472" y="43205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★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080760" y="43205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Disease, 0 = Normal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Methodology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2176272"/>
            <a:ext cx="201168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84248" y="20848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554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15544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0058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55448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heart.csv (918 rows, 12 cols). Inspect dtypes, check missing values.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2176272"/>
            <a:ext cx="201168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0848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0" y="1005840"/>
            <a:ext cx="1554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005840"/>
            <a:ext cx="15544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23160" y="10058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155448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invalid zeros in Cholesterol, RestingBP, MaxHR, Oldpeak with column median.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2176272"/>
            <a:ext cx="201168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20848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1005840"/>
            <a:ext cx="1554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005840"/>
            <a:ext cx="15544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60520" y="10058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22192" y="155448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Encode: Sex, ChestPainType, RestingECG, ExerciseAngina, ST_Slope.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2176272"/>
            <a:ext cx="201168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96328" y="20848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CD4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1005840"/>
            <a:ext cx="1554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005840"/>
            <a:ext cx="15544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97880" y="10058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9552" y="155448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all features (zero mean, unit variance).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23760" y="1005840"/>
            <a:ext cx="1554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1005840"/>
            <a:ext cx="15544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005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35240" y="10058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96912" y="155448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→ 734 train, 184 test. random_state=42.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3493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Implemented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4320" y="385876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858768"/>
            <a:ext cx="128016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L-BFGS  •  max_iter=1000  •  Linear decision boundary  •  Probabilistic output  •  Statistical baseline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385876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3858768"/>
            <a:ext cx="128016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10328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  •  random_state=42  •  Ensemble of decision trees  •  Non-linear boundary  •  Implicit feature selection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EDA — Correlation Heatmap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21208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914400"/>
            <a:ext cx="32461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914400"/>
            <a:ext cx="324612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914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42432" y="1389888"/>
            <a:ext cx="73152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88736" y="14081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MaxHR ↔ HeartDisease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88736" y="1609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(-0.40): higher max HR → lower disease risk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42432" y="1965960"/>
            <a:ext cx="73152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88736" y="19842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 ↔ HeartDisease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88736" y="2185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(+0.40): higher ST depression → higher risk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42432" y="2542032"/>
            <a:ext cx="73152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2560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FastingBS ↔ HeartDisease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88736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(+0.27): elevated fasting sugar linked to disease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42432" y="3118104"/>
            <a:ext cx="73152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88736" y="3136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HeartDisease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888736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(+0.28): older patients more at risk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42432" y="3694176"/>
            <a:ext cx="73152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88736" y="37124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↔ HeartDisease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888736" y="3913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 (-0.23): after zero-imputation, limited linear signal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42432" y="4270248"/>
            <a:ext cx="73152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88736" y="42885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MaxHR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888736" y="4489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 (-0.38): expected physiological decline with age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Results — Confusion Matrices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7764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44168"/>
            <a:ext cx="397764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40740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4074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TN: 67  |  FP: 10  |  FN: 17  |  TP: 90  →  Accuracy: 85.3%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92040" y="960120"/>
            <a:ext cx="397764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960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44168"/>
            <a:ext cx="3977640" cy="3017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92040" y="440740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92040" y="44074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TN: 69  |  FP: 13  |  FN: 11  |  TP: 91  →  Accuracy: 87.0%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4901184"/>
            <a:ext cx="8595360" cy="0"/>
          </a:xfrm>
          <a:prstGeom prst="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Results — ROC Curves &amp;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3200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(AUC = 0.93)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61872"/>
            <a:ext cx="397764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914400"/>
            <a:ext cx="397764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(AUC = 0.93)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61872"/>
            <a:ext cx="3977640" cy="2926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4297680"/>
            <a:ext cx="8595360" cy="274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828800" y="4297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200400" y="4297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0" y="4297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43600" y="4297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40664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74320" y="4590288"/>
            <a:ext cx="85953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45902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828800" y="459028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200400" y="459028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0" y="459028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943600" y="45902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406640" y="45902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74320" y="4855464"/>
            <a:ext cx="8595360" cy="246888"/>
          </a:xfrm>
          <a:prstGeom prst="rect">
            <a:avLst/>
          </a:prstGeom>
          <a:solidFill>
            <a:srgbClr val="E0F7FA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0040" y="48554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1828800" y="485546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200400" y="485546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0" y="485546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943600" y="485546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406640" y="48554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B4F8A">
              <a:alpha val="30000"/>
            </a:srgbClr>
          </a:solidFill>
          <a:ln w="12700">
            <a:solidFill>
              <a:srgbClr val="1B4F8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84048"/>
            <a:ext cx="1920240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920240" cy="1371600"/>
          </a:xfrm>
          <a:prstGeom prst="rect">
            <a:avLst/>
          </a:prstGeom>
          <a:solidFill>
            <a:srgbClr val="132040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192024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8562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3408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LR across all metrics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87168" y="1508760"/>
            <a:ext cx="1920240" cy="1371600"/>
          </a:xfrm>
          <a:prstGeom prst="rect">
            <a:avLst/>
          </a:prstGeom>
          <a:solidFill>
            <a:srgbClr val="132040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508760"/>
            <a:ext cx="192024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87168" y="18562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78608" y="23408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85.3% for Logistic Regression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1508760"/>
            <a:ext cx="1920240" cy="1371600"/>
          </a:xfrm>
          <a:prstGeom prst="rect">
            <a:avLst/>
          </a:prstGeom>
          <a:solidFill>
            <a:srgbClr val="132040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508760"/>
            <a:ext cx="192024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08576" y="18562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00016" y="23408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— strong discrimination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9984" y="1508760"/>
            <a:ext cx="1920240" cy="1371600"/>
          </a:xfrm>
          <a:prstGeom prst="rect">
            <a:avLst/>
          </a:prstGeom>
          <a:solidFill>
            <a:srgbClr val="132040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9984" y="150876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9984" y="18562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21424" y="23408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detects more true disease cases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" y="3364992"/>
            <a:ext cx="128016" cy="12801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captures non-linear interactions between clinical features that Logistic Regression's linear boundary cannot represent.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" y="3749040"/>
            <a:ext cx="128016" cy="12801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941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heart disease cases) are lower in RF (11 vs 17) — a critical clinical safety advantage.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" y="4133088"/>
            <a:ext cx="128016" cy="12801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782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achieve AUC = 0.93, confirming strong discriminative capacity on this near-balanced dataset.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" y="4517136"/>
            <a:ext cx="128016" cy="12801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4622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remains valuable where model interpretability or regulatory transparency is required.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 XGBoost / LightGBM  •  SHAP Explainability  •  Hyperparameter Tuning  •  Cross-dataset Validation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730</Words>
  <Application>Microsoft Office PowerPoint</Application>
  <PresentationFormat>On-screen Show (16:9)</PresentationFormat>
  <Paragraphs>181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Failure Prediction</dc:title>
  <dc:subject>PptxGenJS Presentation</dc:subject>
  <dc:creator>PptxGenJS</dc:creator>
  <cp:lastModifiedBy>HP</cp:lastModifiedBy>
  <cp:revision>1</cp:revision>
  <dcterms:created xsi:type="dcterms:W3CDTF">2026-04-09T06:53:44Z</dcterms:created>
  <dcterms:modified xsi:type="dcterms:W3CDTF">2026-04-09T06:58:06Z</dcterms:modified>
</cp:coreProperties>
</file>